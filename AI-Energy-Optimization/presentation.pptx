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</a:defRPr>
            </a:pPr>
            <a:r>
              <a:t>FINAL YEAR CAPSTONE PROJECT PRESENTATION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AI-Based Smart Energy Consumption</a:t>
            </a:r>
            <a:br/>
            <a:r>
              <a:t>Prediction and Optimization System</a:t>
            </a:r>
          </a:p>
          <a:p>
            <a:pPr>
              <a:spcAft>
                <a:spcPts val="2400"/>
              </a:spcAft>
              <a:defRPr sz="1600">
                <a:solidFill>
                  <a:srgbClr val="0EA5E9"/>
                </a:solidFill>
              </a:defRPr>
            </a:pPr>
            <a:r>
              <a:t>A Full-Stack Machine Learning Solution for Real-Time Electricity Forecasting, Peak Load Shifting, and Automated Energy Conservation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Tech Stack: Python 3.11  •  Flask  •  Random Forest Regressor  •  Scikit-Learn  •  SQLite  •  Bootstrap 5  • 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AI SMART ENERGY OPTIMIZATION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1. Introduction &amp; Background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The Energy Crisis &amp; Billing Gap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Rapid urban growth and proliferation of heavy appliances (ACs, geysers, EV charging) drive surging household electricity consumption.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Traditional utility meters provide delayed feedback through monthly utility bills, preventing consumers from taking timely action.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High electricity bills accumulate without clear visibility into which specific appliances or time windows caused the surge.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Why Machine Learning?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Electricity consumption is driven by complex weather patterns, human schedules, and appliance usage that simple rules cannot model accurately.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Machine Learning allows predictive foresight: projecting energy demand before it occurs so consumers can adjust behaviors proactively.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Empowers consumers to reduce utility bills by 15% to 30% while helping the national grid mitigate evening peak demand surges.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AI SMART ENERGY OPTIMIZATION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2. Problem Statement &amp;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Lack of Predictive Foresight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Consumers have no tool to estimate hourly/daily energy demand prior to running high-draw appliances.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Unanticipated weather fluctuations (high heat/humidity) lead to unexpected billing shocks.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Absence of proactive notifications before entering higher tariff tiers.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Peak Grid Demand Strain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Heavy electrical grid strain occurs during evening peak hours (18:00 to 22:00).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Coincident usage causes grid congestion, requiring costly fossil peaker plants and inflating tariffs.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Lack of consumer incentives or visibility to shift loads to off-peak periods.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Vampire Power &amp; Inaction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Standby 'vampire' power draw accounts for 8% to 10% of household electricity without providing utility.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Standard energy-saving tips are generic, non-contextual, and lack financial quantification.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No interactive tool to simulate tangible savings from energy conservation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AI SMART ENERGY OPTIMIZATION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3. Project Objectives &amp;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Machine Learning Objectives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Generate a physically-grounded residential energy dataset (4,320+ hourly records across 180 days).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Train an explainable Random Forest Regressor to forecast energy consumption in kWh.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Benchmark against a classical Linear Regression model.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Evaluate model performance using MAE, MSE, RMSE, and R² Score metrics.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Extract feature importance rankings to explain prediction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Software Engineering Objectives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Develop a modular, 3-tier MVC full-stack web application using Flask and SQLAlchemy.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Implement secure user registration, session management, and password hashing (PBKDF2/SHA256).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Build an interactive Energy Saving Simulator with real-time financial savings calculation.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Design a responsive energy-themed UI with Bootstrap 5 and Chart.js visualizations.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Implement progressive domestic utility tiered slab cost calculation.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AI SMART ENERGY OPTIMIZATION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4. System Architecture &amp; High-Level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Presentation Layer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HTML5 / CSS3 Design System with Light/Dark Mode toggle.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Bootstrap 5 responsive layouts.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6 Interactive Chart.js widgets (Trend, Weekday, Peak, Scatter).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Reactive Energy Saving Simulator sliders.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Controller &amp; Logic Layer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Flask 3.1 WSGI Application with modular Route Blueprints.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Data Preprocessing &amp; Lag Feature Engineering Pipeline.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Dynamic Rule-Based Optimization Engine.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Tariff &amp; Tiered Slab Billing Calculators.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ML &amp; Storage Layer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Random Forest Regressor serialized via Joblib (energy_model.pkl).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SQLite Relational Database (energy.db).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SQLAlchemy ORM (User, Prediction, EnergyRecord, Alert models).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Data Ingestion &amp; Cleansing Engine.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AI SMART ENERGY OPTIMIZATION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5. Dataset Characteristics &amp; Feature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Synthesized Dataset (4,320 Records)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Spans 180 continuous days with hourly granularity (4,320 records).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Physics-grounded thermal cooling demand: non-linear AC surge when temperature &gt; 26°C.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Diurnal behavioral cycles: morning wake-up surge (07:00–09:00), workday lull, evening peak (18:00–22:00).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Occupancy scaling: accounts for 1 to 5 occupants with weekday/weekend variance.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10 Engineered Predictive Features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Time Features: hour (0–23), day, month, day_of_week (0–6), is_weekend (0/1).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Weather Features: ambient temperature (°C), relative humidity (%).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Household Features: number of people, appliance usage intensity (Low, Medium, High).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Lag &amp; Momentum Features: previous hour consumption (kWh), 3-hour rolling average (kWh).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AI SMART ENERGY OPTIMIZATION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6. Machine Learning Algorithm: Random Forest Regressor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Why Random Forest?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Ensemble Learning: Combines predictions of 100 decision trees via bagging (bootstrap aggregation) to drastically reduce variance.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Non-Linear Modeling: Accurately captures non-linear thermal thresholds (e.g. AC compressor kicks in above 28°C) without complex manual transformations.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Resistant to Overfitting: Constrained with max_depth=14 and min_samples_split=4.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Explainable AI: Produces transparent Gini-based feature importance scores.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Why Not Deep Learning / Linear Regression?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Linear Regression Limitation: Assumes linear relationships, failing to capture diurnal peaks and thermal thresholds.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Deep Learning / LSTM Limitation: Requires massive training datasets, GPU hardware, long training times, and acts as a 'black-box' with poor explainability.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Random Forest is lightweight, CPU-trainable in seconds, and ideal for tabular residential energy forecasting.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AI SMART ENERGY OPTIMIZATION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7. Model Evaluation &amp; Benchmark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Random Forest (Primary Model)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R² Score: 0.9802 (98.02% variance explained)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Mean Absolute Error (MAE): 0.2266 kWh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Mean Squared Error (MSE): 0.1023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Root Mean Squared Error (RMSE): 0.3198 kWh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High accuracy with low error on 20% holdout test data (864 test samples).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Linear Regression (Baseline Benchmark)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R² Score: 0.8301 (83.01% variance explained)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Mean Absolute Error (MAE): 0.7069 kWh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Mean Squared Error (MSE): 0.8759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Root Mean Squared Error (RMSE): 0.9359 kWh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Performance Delta: Random Forest improves R² by +15.01% and reduces MAE error by 67.9%.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AI SMART ENERGY OPTIMIZATION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8. Model Explainability &amp; Feature Importance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Feature Importance Ranking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1. Previous Consumption (Lag 1h): 57.58%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2. Appliance Usage Intensity: 18.45%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3. Hour of Day (Diurnal Curve): 15.06%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4. Ambient Temperature: 4.26%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5. Month (Seasonality): 1.33%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6. Rolling 3h Average: 1.12%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7. Relative Humidity: 0.94%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8. Occupant Count: 0.82%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Viva Defense Insights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Why Lag is #1: Energy usage exhibits strong autoregressive momentum (appliances running now tend to stay on in the next hour).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Appliance &amp; Hour Impact: Peak evening activities (cooking, lights, entertainment) account for over 33% of predictive power.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Thermal Sensitivity: Outdoor temperature dictates AC compressor activation, heavily influencing summer spikes.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AI SMART ENERGY OPTIMIZATION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9. Interactive Prediction &amp; Cost Calculation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Real-Time Prediction Interface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User inputs: Date, Time, Temperature, Humidity, Occupants, Appliance Level, Previous kWh.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Instant Output: Predicted energy in kWh, hourly cost, daily projection, and monthly bill.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Usage Categorization: Automated classification into Low (&lt;3.5 kWh), Normal (3.5–7.5 kWh), or High (&gt;7.5 kWh) with colored badges.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Automated Logging: Predictions saved to SQLite database with audit timestamps.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Progressive Domestic Tier Billing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Flat Tariff Calculation: Cost = kWh × Tariff Rate (e.g. 10 kWh @ ₹8/kWh = ₹80).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Progressive Domestic Tier Slabs: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 • Tier 1 (0 – 100 kWh): 60% of base tariff (Lifeline Block)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 • Tier 2 (101 – 300 kWh): 100% of base tariff (Standard Block)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 • Tier 3 (&gt; 300 kWh): 135% of base tariff (Heavy Surcharge)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Multi-currency support: ₹ (INR default), $, €, 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AI SMART ENERGY OPTIMIZATION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10. Dynamic Optimization &amp; Recommendation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Context-Aware Rule Processing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Peak Load Shifting: Detects 18:00–22:00 window and advises deferring washing machines/pumps to morning off-peak hours (saves ~₹432/mo).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Thermostat Optimization: Advises setting AC to 24°C–26°C when temperature &gt; 28°C (every 1°C saves ~6% cooling power).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Humidity Control: Recommends AC 'Dry Mode' when humidity &gt; 70% (saves up to 25% compressor energy).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Load Staggering: Prevents simultaneous high-wattage equipment spikes.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Quantified Savings Output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Each recommendation dynamically computes both monthly kWh saved and money saved in user currency (₹).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Eliminating Standby Vampire Power: Advises smart power strips during late night (saves ~₹160/mo).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LED Upgrades: Lighting optimization advice tailored to occupant counts.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Dynamic generation ensures advice reflects real-time input parameters rather than static hardcoded 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AI SMART ENERGY OPTIMIZATION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11. Interactive Energy Saving Simulator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Interactive User Controls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Reduce AC / Cooling Usage Slider (0% to 50%)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Optimize Lighting Usage Slider (0% to 50%)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Reduce Major Appliances Slider (0% to 50%)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Shift Usage Away from Peak Hours Slider (0% to 50%)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Eliminate Standby Vampire Power Toggle (Checkbox)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Configurable Baseline Monthly kWh and Tariff Rate.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Real-Time Calculated Outputs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Live AJAX recalculation without page reload.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Estimated Monthly &amp; Yearly Monetary Savings (₹).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Total Monthly Energy Reduced (kWh).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New Projected Monthly Electricity Bill (₹).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Animated progress bar displaying Overall Reduction Percentage (%).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Detailed breakdown across cooling, lighting, appliances, and standby power.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AI SMART ENERGY OPTIMIZATION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12. Dataset Upload &amp; Visual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Dataset Upload &amp; Cleansing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CSV File Upload with validation for headers, datatypes, and file size (&lt;16MB).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Automated data cleansing: handles missing values via median and forward-fill imputation.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Preview table displaying first 10 cleaned rows and statistical summaries.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Bulk ingestion into SQLite database with automatic chart updates.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Downloadable Sample CSV Template (/download-sample-csv).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6 Interactive Chart.js Visualizations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1. Daily Timeline Trend: Line chart showing daily usage over time.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2. Weekly Analysis: Monday through Sunday comparative bar chart.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3. Monthly Aggregate: Month-by-month historical consumption.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4. Peak Hours Profile: 24-hour diurnal profile highlighting peak 18–22 window.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5. Appliance Doughnut: Percentage breakdown across household loads.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6. Temperature vs Energy: Scatter plot illustrating thermal sensitivity.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AI SMART ENERGY OPTIMIZATION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13. Testing, Security &amp;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Automated Pytest Suite (7/7 Passed)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Unit testing of data cleaning and feature extraction (TC-01).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ML prediction inference and cost calculation testing (TC-02).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Progressive tiered billing mathematics verification (TC-03).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Energy Saving Simulator calculation verification (TC-04).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End-to-end user registration, login, and session guard testing (TC-05).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CSV upload schema validation &amp; empty file handling (TC-06).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Security &amp; Error Handling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Password Security: PBKDF2/SHA-256 password hashing with salt (no plaintext passwords).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Session Protection: Unauthorized route access redirected to login.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Input Sanitization: Temperature, humidity, and kWh validated against physical bounds.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SQL Injection Prevention: SQLAlchemy ORM parameterized queries.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Graceful Error Handling: Custom 404, 500, and 413 error handlers.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AI SMART ENERGY OPTIMIZATION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14. Conclusion &amp; 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Project Conclusion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Successfully developed an intelligent, full-stack AI energy prediction and optimization system.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High Accuracy: Random Forest Regressor achieves 98.02% R² score with MAE = 0.2266 kWh.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Tangible Impact: Empowers users to achieve 15% to 30% monthly electricity bill savings.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Explainable &amp; Accessible: Completely offline, requiring no paid APIs or GPU hardware.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Future Scope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IoT Smart Meter Telemetry: Integrate ESP32 / PZEM-004T CT current sensors for real-time live streaming.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Automated Smart Plug Actuation: Automatically turn off non-essential loads during peak tariffs.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Rooftop Solar PV Integration: Forecast solar generation and optimize battery storage charging.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Mobile App / PWA: Progressive Web App with automated WhatsApp/SMS budget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